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CDB99-B858-49E7-9F51-F5D81BE02A28}" v="4" dt="2026-08-31T17:08:49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31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it Khandelwal" userId="a2787c0b9527c0a8" providerId="LiveId" clId="{15FC5D50-27D8-4170-B146-6E56D1A5C8F8}"/>
    <pc:docChg chg="undo custSel delSld modSld">
      <pc:chgData name="Archit Khandelwal" userId="a2787c0b9527c0a8" providerId="LiveId" clId="{15FC5D50-27D8-4170-B146-6E56D1A5C8F8}" dt="2026-08-31T17:15:34.352" v="344" actId="2696"/>
      <pc:docMkLst>
        <pc:docMk/>
      </pc:docMkLst>
      <pc:sldChg chg="modSp mod">
        <pc:chgData name="Archit Khandelwal" userId="a2787c0b9527c0a8" providerId="LiveId" clId="{15FC5D50-27D8-4170-B146-6E56D1A5C8F8}" dt="2026-08-31T17:08:40.482" v="167" actId="27636"/>
        <pc:sldMkLst>
          <pc:docMk/>
          <pc:sldMk cId="0" sldId="256"/>
        </pc:sldMkLst>
        <pc:spChg chg="mod">
          <ac:chgData name="Archit Khandelwal" userId="a2787c0b9527c0a8" providerId="LiveId" clId="{15FC5D50-27D8-4170-B146-6E56D1A5C8F8}" dt="2026-08-31T17:07:13.094" v="1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82" v="167" actId="2763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9:58.288" v="342" actId="20577"/>
        <pc:sldMkLst>
          <pc:docMk/>
          <pc:sldMk cId="0" sldId="257"/>
        </pc:sldMkLst>
        <pc:spChg chg="mod">
          <ac:chgData name="Archit Khandelwal" userId="a2787c0b9527c0a8" providerId="LiveId" clId="{15FC5D50-27D8-4170-B146-6E56D1A5C8F8}" dt="2026-08-31T17:09:58.288" v="342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51" v="94" actId="27636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369" v="102" actId="27636"/>
        <pc:sldMkLst>
          <pc:docMk/>
          <pc:sldMk cId="0" sldId="258"/>
        </pc:sldMkLst>
        <pc:spChg chg="mod">
          <ac:chgData name="Archit Khandelwal" userId="a2787c0b9527c0a8" providerId="LiveId" clId="{15FC5D50-27D8-4170-B146-6E56D1A5C8F8}" dt="2026-08-31T17:08:40.367" v="97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69" v="99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69" v="98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69" v="100" actId="276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69" v="101" actId="276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64" v="96" actId="2763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69" v="102" actId="27636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377" v="106" actId="27636"/>
        <pc:sldMkLst>
          <pc:docMk/>
          <pc:sldMk cId="0" sldId="259"/>
        </pc:sldMkLst>
        <pc:spChg chg="mod">
          <ac:chgData name="Archit Khandelwal" userId="a2787c0b9527c0a8" providerId="LiveId" clId="{15FC5D50-27D8-4170-B146-6E56D1A5C8F8}" dt="2026-08-31T17:08:40.377" v="106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77" v="105" actId="276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77" v="104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73" v="103" actId="27636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386" v="110" actId="27636"/>
        <pc:sldMkLst>
          <pc:docMk/>
          <pc:sldMk cId="0" sldId="260"/>
        </pc:sldMkLst>
        <pc:spChg chg="mod">
          <ac:chgData name="Archit Khandelwal" userId="a2787c0b9527c0a8" providerId="LiveId" clId="{15FC5D50-27D8-4170-B146-6E56D1A5C8F8}" dt="2026-08-31T17:08:40.386" v="108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86" v="110" actId="276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81" v="107" actId="276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86" v="109" actId="27636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390" v="113" actId="27636"/>
        <pc:sldMkLst>
          <pc:docMk/>
          <pc:sldMk cId="0" sldId="261"/>
        </pc:sldMkLst>
        <pc:spChg chg="mod">
          <ac:chgData name="Archit Khandelwal" userId="a2787c0b9527c0a8" providerId="LiveId" clId="{15FC5D50-27D8-4170-B146-6E56D1A5C8F8}" dt="2026-08-31T17:08:40.390" v="113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90" v="112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90" v="111" actId="27636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02" v="121" actId="27636"/>
        <pc:sldMkLst>
          <pc:docMk/>
          <pc:sldMk cId="0" sldId="262"/>
        </pc:sldMkLst>
        <pc:spChg chg="mod">
          <ac:chgData name="Archit Khandelwal" userId="a2787c0b9527c0a8" providerId="LiveId" clId="{15FC5D50-27D8-4170-B146-6E56D1A5C8F8}" dt="2026-08-31T17:08:40.394" v="114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98" v="117" actId="276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98" v="118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02" v="120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98" v="116" actId="2763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02" v="121" actId="276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42" v="9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02" v="119" actId="2763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398" v="115" actId="27636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11" v="123" actId="27636"/>
        <pc:sldMkLst>
          <pc:docMk/>
          <pc:sldMk cId="0" sldId="263"/>
        </pc:sldMkLst>
        <pc:spChg chg="mod">
          <ac:chgData name="Archit Khandelwal" userId="a2787c0b9527c0a8" providerId="LiveId" clId="{15FC5D50-27D8-4170-B146-6E56D1A5C8F8}" dt="2026-08-31T17:08:40.410" v="122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11" v="123" actId="27636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16" v="127" actId="27636"/>
        <pc:sldMkLst>
          <pc:docMk/>
          <pc:sldMk cId="0" sldId="264"/>
        </pc:sldMkLst>
        <pc:spChg chg="mod">
          <ac:chgData name="Archit Khandelwal" userId="a2787c0b9527c0a8" providerId="LiveId" clId="{15FC5D50-27D8-4170-B146-6E56D1A5C8F8}" dt="2026-08-31T17:08:40.416" v="127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16" v="125" actId="276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16" v="124" actId="2763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16" v="126" actId="27636"/>
          <ac:spMkLst>
            <pc:docMk/>
            <pc:sldMk cId="0" sldId="264"/>
            <ac:spMk id="28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24" v="133" actId="27636"/>
        <pc:sldMkLst>
          <pc:docMk/>
          <pc:sldMk cId="0" sldId="265"/>
        </pc:sldMkLst>
        <pc:spChg chg="mod">
          <ac:chgData name="Archit Khandelwal" userId="a2787c0b9527c0a8" providerId="LiveId" clId="{15FC5D50-27D8-4170-B146-6E56D1A5C8F8}" dt="2026-08-31T17:08:40.424" v="132" actId="276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20" v="129" actId="2763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24" v="131" actId="2763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24" v="130" actId="2763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24" v="133" actId="2763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20" v="128" actId="27636"/>
          <ac:spMkLst>
            <pc:docMk/>
            <pc:sldMk cId="0" sldId="265"/>
            <ac:spMk id="33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32" v="137" actId="27636"/>
        <pc:sldMkLst>
          <pc:docMk/>
          <pc:sldMk cId="0" sldId="266"/>
        </pc:sldMkLst>
        <pc:spChg chg="mod">
          <ac:chgData name="Archit Khandelwal" userId="a2787c0b9527c0a8" providerId="LiveId" clId="{15FC5D50-27D8-4170-B146-6E56D1A5C8F8}" dt="2026-08-31T17:08:40.428" v="134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32" v="136" actId="276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32" v="135" actId="276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32" v="137" actId="27636"/>
          <ac:spMkLst>
            <pc:docMk/>
            <pc:sldMk cId="0" sldId="266"/>
            <ac:spMk id="15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40" v="141" actId="27636"/>
        <pc:sldMkLst>
          <pc:docMk/>
          <pc:sldMk cId="0" sldId="267"/>
        </pc:sldMkLst>
        <pc:spChg chg="mod">
          <ac:chgData name="Archit Khandelwal" userId="a2787c0b9527c0a8" providerId="LiveId" clId="{15FC5D50-27D8-4170-B146-6E56D1A5C8F8}" dt="2026-08-31T17:08:40.440" v="141" actId="27636"/>
          <ac:spMkLst>
            <pc:docMk/>
            <pc:sldMk cId="0" sldId="267"/>
            <ac:spMk id="6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36" v="138" actId="276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36" v="140" actId="276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36" v="139" actId="27636"/>
          <ac:spMkLst>
            <pc:docMk/>
            <pc:sldMk cId="0" sldId="267"/>
            <ac:spMk id="13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44" v="142" actId="27636"/>
        <pc:sldMkLst>
          <pc:docMk/>
          <pc:sldMk cId="0" sldId="268"/>
        </pc:sldMkLst>
        <pc:spChg chg="mod">
          <ac:chgData name="Archit Khandelwal" userId="a2787c0b9527c0a8" providerId="LiveId" clId="{15FC5D50-27D8-4170-B146-6E56D1A5C8F8}" dt="2026-08-31T17:08:40.444" v="142" actId="27636"/>
          <ac:spMkLst>
            <pc:docMk/>
            <pc:sldMk cId="0" sldId="268"/>
            <ac:spMk id="5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49" v="146" actId="27636"/>
        <pc:sldMkLst>
          <pc:docMk/>
          <pc:sldMk cId="0" sldId="269"/>
        </pc:sldMkLst>
        <pc:spChg chg="mod">
          <ac:chgData name="Archit Khandelwal" userId="a2787c0b9527c0a8" providerId="LiveId" clId="{15FC5D50-27D8-4170-B146-6E56D1A5C8F8}" dt="2026-08-31T17:08:40.449" v="145" actId="27636"/>
          <ac:spMkLst>
            <pc:docMk/>
            <pc:sldMk cId="0" sldId="269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49" v="143" actId="276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49" v="144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49" v="146" actId="27636"/>
          <ac:spMkLst>
            <pc:docMk/>
            <pc:sldMk cId="0" sldId="269"/>
            <ac:spMk id="13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64" v="154" actId="27636"/>
        <pc:sldMkLst>
          <pc:docMk/>
          <pc:sldMk cId="0" sldId="270"/>
        </pc:sldMkLst>
        <pc:spChg chg="mod">
          <ac:chgData name="Archit Khandelwal" userId="a2787c0b9527c0a8" providerId="LiveId" clId="{15FC5D50-27D8-4170-B146-6E56D1A5C8F8}" dt="2026-08-31T17:08:40.457" v="149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64" v="154" actId="27636"/>
          <ac:spMkLst>
            <pc:docMk/>
            <pc:sldMk cId="0" sldId="270"/>
            <ac:spMk id="7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57" v="151" actId="27636"/>
          <ac:spMkLst>
            <pc:docMk/>
            <pc:sldMk cId="0" sldId="270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57" v="150" actId="276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61" v="153" actId="276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53" v="147" actId="2763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61" v="152" actId="2763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57" v="148" actId="27636"/>
          <ac:spMkLst>
            <pc:docMk/>
            <pc:sldMk cId="0" sldId="270"/>
            <ac:spMk id="17" creationId="{00000000-0000-0000-0000-000000000000}"/>
          </ac:spMkLst>
        </pc:spChg>
      </pc:sldChg>
      <pc:sldChg chg="modSp mod">
        <pc:chgData name="Archit Khandelwal" userId="a2787c0b9527c0a8" providerId="LiveId" clId="{15FC5D50-27D8-4170-B146-6E56D1A5C8F8}" dt="2026-08-31T17:08:40.474" v="162" actId="27636"/>
        <pc:sldMkLst>
          <pc:docMk/>
          <pc:sldMk cId="0" sldId="271"/>
        </pc:sldMkLst>
        <pc:spChg chg="mod">
          <ac:chgData name="Archit Khandelwal" userId="a2787c0b9527c0a8" providerId="LiveId" clId="{15FC5D50-27D8-4170-B146-6E56D1A5C8F8}" dt="2026-08-31T17:08:40.470" v="161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65" v="156" actId="27636"/>
          <ac:spMkLst>
            <pc:docMk/>
            <pc:sldMk cId="0" sldId="271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0" v="158" actId="27636"/>
          <ac:spMkLst>
            <pc:docMk/>
            <pc:sldMk cId="0" sldId="271"/>
            <ac:spMk id="9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0" v="157" actId="2763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0" v="159" actId="2763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4" v="162" actId="2763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0" v="160" actId="276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65" v="155" actId="27636"/>
          <ac:spMkLst>
            <pc:docMk/>
            <pc:sldMk cId="0" sldId="271"/>
            <ac:spMk id="20" creationId="{00000000-0000-0000-0000-000000000000}"/>
          </ac:spMkLst>
        </pc:spChg>
      </pc:sldChg>
      <pc:sldChg chg="delSp modSp del mod">
        <pc:chgData name="Archit Khandelwal" userId="a2787c0b9527c0a8" providerId="LiveId" clId="{15FC5D50-27D8-4170-B146-6E56D1A5C8F8}" dt="2026-08-31T17:15:34.352" v="344" actId="2696"/>
        <pc:sldMkLst>
          <pc:docMk/>
          <pc:sldMk cId="0" sldId="272"/>
        </pc:sldMkLst>
        <pc:spChg chg="mod">
          <ac:chgData name="Archit Khandelwal" userId="a2787c0b9527c0a8" providerId="LiveId" clId="{15FC5D50-27D8-4170-B146-6E56D1A5C8F8}" dt="2026-08-31T17:08:40.474" v="163" actId="27636"/>
          <ac:spMkLst>
            <pc:docMk/>
            <pc:sldMk cId="0" sldId="272"/>
            <ac:spMk id="5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8" v="164" actId="27636"/>
          <ac:spMkLst>
            <pc:docMk/>
            <pc:sldMk cId="0" sldId="272"/>
            <ac:spMk id="8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8" v="165" actId="276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Archit Khandelwal" userId="a2787c0b9527c0a8" providerId="LiveId" clId="{15FC5D50-27D8-4170-B146-6E56D1A5C8F8}" dt="2026-08-31T17:08:40.478" v="166" actId="27636"/>
          <ac:spMkLst>
            <pc:docMk/>
            <pc:sldMk cId="0" sldId="272"/>
            <ac:spMk id="12" creationId="{00000000-0000-0000-0000-000000000000}"/>
          </ac:spMkLst>
        </pc:spChg>
        <pc:spChg chg="del">
          <ac:chgData name="Archit Khandelwal" userId="a2787c0b9527c0a8" providerId="LiveId" clId="{15FC5D50-27D8-4170-B146-6E56D1A5C8F8}" dt="2026-08-31T17:15:05.064" v="343" actId="478"/>
          <ac:spMkLst>
            <pc:docMk/>
            <pc:sldMk cId="0" sldId="272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75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flat. Shelf data in kirana retail is never captured, and every tool that could capture it assumes a network. This is the design for the version that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number, pause, then the second line. Do not elaborate — the next slide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 concretely. Four minutes per store, thirty to forty stores. The salesman leaves with an order and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the brand pays for and cannot measure. Fast — this is the setup for why a camera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obvious question: retail image recognition already exists. Say why none of it lands in this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slide. Everything from here is the design. Land the constraint,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five seconds each. This is the map for the next five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technical core. The point to land: the dataset is the product decision. Nothing public looks like an Indian kirana 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these are budgets the design is held to, not measurements. Confirming them on real hardware is milestone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the salesman would see three seconds after the shutter. Point at the flagged rows — those become the order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salesman stays in control. The model proposes, the human confirms. That is what makes it usable at a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distributor never installs anything. They get the file format they already work in. That is the adoption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layers, one sentence each. Mention idempotent visit keys only if someone asks about duplicate submissions.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 for a concept-stage pitch. None of the three pieces requires new research; the work is assembly and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first to name the weaknesses. Judges reward a team that knows where its own edges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weeks to a measured pilot. Say what milestone one is: a benchmark on real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2786752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IQOO HACKATHON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5668627" y="838080"/>
            <a:ext cx="1791554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AREA 51</a:t>
            </a:r>
          </a:p>
          <a:p>
            <a:pPr marL="0" indent="0" algn="l">
              <a:buNone/>
            </a:pP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259043"/>
            <a:ext cx="10438887" cy="2836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65"/>
              </a:lnSpc>
              <a:buNone/>
            </a:pPr>
            <a:r>
              <a:rPr lang="en-US" sz="7200" b="1" kern="0" spc="-216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ShelfSense: Offline shelf audit for kirana distribution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90540" y="5476277"/>
            <a:ext cx="9810597" cy="144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410"/>
              </a:lnSpc>
              <a:buNone/>
            </a:pPr>
            <a:r>
              <a:rPr lang="en-US" sz="25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custom-trained detector recognises Indian FMCG packs from a shelf photo, flags stockouts and facings offline, captures the order, and generates distributor-ready sheets on sync.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963462" y="2259043"/>
            <a:ext cx="5333851" cy="311150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2" y="2754313"/>
            <a:ext cx="4945348" cy="357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0"/>
              </a:lnSpc>
              <a:buNone/>
            </a:pPr>
            <a:r>
              <a:rPr lang="en-US" sz="1800" kern="0" spc="72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One shelf photo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82502" y="3359809"/>
            <a:ext cx="4495771" cy="9525"/>
          </a:xfrm>
          <a:prstGeom prst="rect">
            <a:avLst/>
          </a:prstGeom>
          <a:solidFill>
            <a:srgbClr val="EEF3F1">
              <a:alpha val="3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2" y="3654845"/>
            <a:ext cx="4945348" cy="357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0"/>
              </a:lnSpc>
              <a:buNone/>
            </a:pPr>
            <a:r>
              <a:rPr lang="en-US" sz="1800" kern="0" spc="72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Zero network calls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82502" y="4260341"/>
            <a:ext cx="4495771" cy="9525"/>
          </a:xfrm>
          <a:prstGeom prst="rect">
            <a:avLst/>
          </a:prstGeom>
          <a:solidFill>
            <a:srgbClr val="EEF3F1">
              <a:alpha val="3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2" y="4555377"/>
            <a:ext cx="4945348" cy="357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0"/>
              </a:lnSpc>
              <a:buNone/>
            </a:pPr>
            <a:r>
              <a:rPr lang="en-US" sz="1800" kern="0" spc="72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Distributor sheet on sync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6A6558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757907"/>
            <a:ext cx="15304618" cy="4035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0" b="1" kern="0" spc="-346" dirty="0">
                <a:solidFill>
                  <a:srgbClr val="F2EF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phone replaces the clipboard, the </a:t>
            </a:r>
            <a:r>
              <a:rPr lang="en-US" sz="9900" b="1" kern="0" spc="-346" dirty="0" err="1">
                <a:solidFill>
                  <a:srgbClr val="F2EF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</a:t>
            </a:r>
            <a:r>
              <a:rPr lang="en-US" sz="9900" b="1" kern="0" spc="-346" dirty="0">
                <a:solidFill>
                  <a:srgbClr val="F2EF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laptop, and the cloud – one photo, one second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990540" y="7136563"/>
            <a:ext cx="11772748" cy="10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945"/>
              </a:lnSpc>
              <a:buNone/>
            </a:pPr>
            <a:r>
              <a:rPr lang="en-US" sz="2850" dirty="0">
                <a:solidFill>
                  <a:srgbClr val="57B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channel that moves most of India's FMCG is the one channel with no shelf data at all.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68543"/>
            <a:ext cx="8465855" cy="675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Field visit today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90540" y="3087089"/>
            <a:ext cx="7927118" cy="1363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43"/>
              </a:lnSpc>
              <a:buNone/>
            </a:pPr>
            <a:r>
              <a:rPr lang="en-US" sz="240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distributor salesman works a beat of thirty to forty kirana stores a day. Each stop lasts about four minutes, most of it spent talking across the counter.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540" y="4793352"/>
            <a:ext cx="8465855" cy="47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43"/>
              </a:lnSpc>
              <a:buNone/>
            </a:pPr>
            <a:r>
              <a:rPr lang="en-US" sz="240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order is recorded. The shelf is not.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1082" y="2068543"/>
            <a:ext cx="7696231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9" name="Shape 7"/>
          <p:cNvSpPr/>
          <p:nvPr/>
        </p:nvSpPr>
        <p:spPr>
          <a:xfrm>
            <a:off x="9601082" y="3034971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082" y="2363728"/>
            <a:ext cx="373332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202984" y="2363728"/>
            <a:ext cx="4600216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771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Glances at the shelf on the way in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601082" y="4001399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082" y="3330156"/>
            <a:ext cx="373332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2984" y="3330156"/>
            <a:ext cx="4728220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771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Asks the owner what has run short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601082" y="4967828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082" y="4296585"/>
            <a:ext cx="373332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02984" y="4296585"/>
            <a:ext cx="5102181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771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Writes the order on a pad or in an app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601082" y="5934256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082" y="5263012"/>
            <a:ext cx="373332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202984" y="5263012"/>
            <a:ext cx="3220349" cy="42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771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Moves to the next store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goes unrecorded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6416496" y="3430049"/>
            <a:ext cx="9585" cy="613299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7" name="Text 5"/>
          <p:cNvSpPr/>
          <p:nvPr/>
        </p:nvSpPr>
        <p:spPr>
          <a:xfrm>
            <a:off x="990540" y="3430049"/>
            <a:ext cx="5381911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STOCKOUTS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540" y="3984326"/>
            <a:ext cx="5039426" cy="123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Which SKUs were empty at the moment of the visit, and how often the same slot goes empty across the beat.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852037" y="3430049"/>
            <a:ext cx="9585" cy="613299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0" name="Text 8"/>
          <p:cNvSpPr/>
          <p:nvPr/>
        </p:nvSpPr>
        <p:spPr>
          <a:xfrm>
            <a:off x="6959391" y="3430049"/>
            <a:ext cx="4795269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FACINGS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959391" y="3984326"/>
            <a:ext cx="4490116" cy="1638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much shelf the brand actually holds against the planogram it negotiated and pays a visibility fee for.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394933" y="3430049"/>
            <a:ext cx="5392454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COMPETITOR SHARE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394933" y="3984326"/>
            <a:ext cx="5049298" cy="123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has moved into the space when the brand's own pack is missing, and which rival is taking it.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existing shelf tools don't reach kirana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90540" y="5326064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7" name="Text 5"/>
          <p:cNvSpPr/>
          <p:nvPr/>
        </p:nvSpPr>
        <p:spPr>
          <a:xfrm>
            <a:off x="990540" y="4195044"/>
            <a:ext cx="4400386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INFERENCE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600431" y="4137535"/>
            <a:ext cx="12047788" cy="864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693"/>
              </a:lnSpc>
              <a:buNone/>
            </a:pPr>
            <a:r>
              <a:rPr lang="en-US" sz="2325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photo is an upload. Beat routes run through basements, market lanes and 2G pockets where the upload simply fails.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90540" y="6886007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0" name="Text 8"/>
          <p:cNvSpPr/>
          <p:nvPr/>
        </p:nvSpPr>
        <p:spPr>
          <a:xfrm>
            <a:off x="990540" y="5754988"/>
            <a:ext cx="4400386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FOREIGN PACK DATA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600431" y="5697478"/>
            <a:ext cx="12047788" cy="864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693"/>
              </a:lnSpc>
              <a:buNone/>
            </a:pPr>
            <a:r>
              <a:rPr lang="en-US" sz="2325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Off-the-shelf retail detectors are trained on Western SKUs and packaging conventions. Indian sachets, strips and hanging rails are outside their vocabulary.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90540" y="8445951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540" y="7314931"/>
            <a:ext cx="4400386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MODERN-TRADE PRICING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600431" y="7257422"/>
            <a:ext cx="12047788" cy="864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693"/>
              </a:lnSpc>
              <a:buNone/>
            </a:pPr>
            <a:r>
              <a:rPr lang="en-US" sz="2325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Per-store licences are priced against supermarket chains, not against a distributor running a four-hundred-outlet beat on thin margins.</a:t>
            </a:r>
            <a:endParaRPr lang="en-US" sz="23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6A6558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59254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APPROACH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788160"/>
            <a:ext cx="17937451" cy="2693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5287"/>
              </a:lnSpc>
              <a:buNone/>
            </a:pPr>
            <a:r>
              <a:rPr lang="en-US" sz="25500" b="1" kern="0" spc="-1275" dirty="0">
                <a:solidFill>
                  <a:srgbClr val="57B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</a:t>
            </a:r>
            <a:endParaRPr lang="en-US" sz="25500" dirty="0"/>
          </a:p>
        </p:txBody>
      </p:sp>
      <p:sp>
        <p:nvSpPr>
          <p:cNvPr id="6" name="Text 4"/>
          <p:cNvSpPr/>
          <p:nvPr/>
        </p:nvSpPr>
        <p:spPr>
          <a:xfrm>
            <a:off x="990540" y="5672168"/>
            <a:ext cx="11772748" cy="1276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346"/>
              </a:lnSpc>
              <a:buNone/>
            </a:pPr>
            <a:r>
              <a:rPr lang="en-US" sz="3900" dirty="0">
                <a:solidFill>
                  <a:srgbClr val="F2EF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network calls between the shelf photo and the finished order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90540" y="7291059"/>
            <a:ext cx="10791673" cy="866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88"/>
              </a:lnSpc>
              <a:buNone/>
            </a:pPr>
            <a:r>
              <a:rPr lang="en-US" sz="2250" dirty="0">
                <a:solidFill>
                  <a:srgbClr val="A19A8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Detection, planogram reconciliation and order capture all execute on the handset. Connectivity is used once, later, to hand the data over.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59254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APPROACH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system, end to end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4242220" y="3468239"/>
            <a:ext cx="9585" cy="609480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7" name="Text 5"/>
          <p:cNvSpPr/>
          <p:nvPr/>
        </p:nvSpPr>
        <p:spPr>
          <a:xfrm>
            <a:off x="990540" y="3468239"/>
            <a:ext cx="3157912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540" y="3974891"/>
            <a:ext cx="3157912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Capture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90540" y="4556725"/>
            <a:ext cx="2956954" cy="1078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wide photo of the rack, shot from where the salesman already stands.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503635" y="3468239"/>
            <a:ext cx="9585" cy="609480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1" name="Text 9"/>
          <p:cNvSpPr/>
          <p:nvPr/>
        </p:nvSpPr>
        <p:spPr>
          <a:xfrm>
            <a:off x="4632655" y="3468239"/>
            <a:ext cx="2739142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2655" y="3974891"/>
            <a:ext cx="2739142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4632655" y="4556725"/>
            <a:ext cx="2566329" cy="1424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on-device model returns a box, an SKU label and a confidence for every pack.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764899" y="3468239"/>
            <a:ext cx="9585" cy="609480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5" name="Text 13"/>
          <p:cNvSpPr/>
          <p:nvPr/>
        </p:nvSpPr>
        <p:spPr>
          <a:xfrm>
            <a:off x="7894070" y="3468239"/>
            <a:ext cx="2738977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94070" y="3974891"/>
            <a:ext cx="2738977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Reconcile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894070" y="4556725"/>
            <a:ext cx="2566179" cy="1771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Detections are diffed against the store's planogram to give gaps and facing counts.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4026314" y="3468239"/>
            <a:ext cx="9585" cy="609480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334" y="3468239"/>
            <a:ext cx="2739142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55334" y="3974891"/>
            <a:ext cx="2739142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Order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155334" y="4556725"/>
            <a:ext cx="2566329" cy="1771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Gaps become suggested quantities. The salesman edits and confirms at the counter.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416749" y="3468239"/>
            <a:ext cx="316845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416749" y="3974891"/>
            <a:ext cx="3168456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Sync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4416749" y="4556725"/>
            <a:ext cx="2966827" cy="1424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When signal returns the queue drains and distributor sheets are generated.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16199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03"/>
            <a:ext cx="8507699" cy="675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detector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90540" y="3011009"/>
            <a:ext cx="7966300" cy="2109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88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single-stage detector trained on Indian FMCG packs photographed the way a salesman actually shoots them: at an angle, close to the rack, under tube light, half the pack behind a hanging strip. No public dataset looks like this, so collecting one is the first piece of work.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540" y="5425058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8" name="Shape 6"/>
          <p:cNvSpPr/>
          <p:nvPr/>
        </p:nvSpPr>
        <p:spPr>
          <a:xfrm>
            <a:off x="990540" y="6103190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9" name="Text 7"/>
          <p:cNvSpPr/>
          <p:nvPr/>
        </p:nvSpPr>
        <p:spPr>
          <a:xfrm>
            <a:off x="990540" y="5605973"/>
            <a:ext cx="1481677" cy="363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BACKBONE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96470" y="5922275"/>
            <a:ext cx="2228341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1" name="Text 9"/>
          <p:cNvSpPr/>
          <p:nvPr/>
        </p:nvSpPr>
        <p:spPr>
          <a:xfrm>
            <a:off x="6496470" y="5605973"/>
            <a:ext cx="2451175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candidate model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90540" y="6781322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540" y="6284105"/>
            <a:ext cx="3333526" cy="363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SKU CLASSES, PILOT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427680" y="6600407"/>
            <a:ext cx="297132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5" name="Text 13"/>
          <p:cNvSpPr/>
          <p:nvPr/>
        </p:nvSpPr>
        <p:spPr>
          <a:xfrm>
            <a:off x="8427680" y="6284105"/>
            <a:ext cx="373332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540" y="7459454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540" y="6962237"/>
            <a:ext cx="4074364" cy="363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LABELLED IMAGES NEEDED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981981" y="7278539"/>
            <a:ext cx="742830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9" name="Text 17"/>
          <p:cNvSpPr/>
          <p:nvPr/>
        </p:nvSpPr>
        <p:spPr>
          <a:xfrm>
            <a:off x="7981981" y="6962237"/>
            <a:ext cx="819030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0,000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90540" y="8137586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540" y="7640369"/>
            <a:ext cx="2592852" cy="363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mAP@50, TARGET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8130547" y="7956671"/>
            <a:ext cx="594264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3" name="Text 21"/>
          <p:cNvSpPr/>
          <p:nvPr/>
        </p:nvSpPr>
        <p:spPr>
          <a:xfrm>
            <a:off x="8130547" y="7640369"/>
            <a:ext cx="670464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62892" y="2030503"/>
            <a:ext cx="7734421" cy="7532539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25" name="Text 23"/>
          <p:cNvSpPr/>
          <p:nvPr/>
        </p:nvSpPr>
        <p:spPr>
          <a:xfrm>
            <a:off x="9943742" y="2449543"/>
            <a:ext cx="7669992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DETECTION OUTPUT — SCHEMATIC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943742" y="4694808"/>
            <a:ext cx="6972720" cy="19170"/>
          </a:xfrm>
          <a:prstGeom prst="rect">
            <a:avLst/>
          </a:prstGeom>
          <a:solidFill>
            <a:srgbClr val="4A463C"/>
          </a:solidFill>
          <a:ln/>
        </p:spPr>
      </p:sp>
      <p:sp>
        <p:nvSpPr>
          <p:cNvPr id="27" name="Shape 25"/>
          <p:cNvSpPr/>
          <p:nvPr/>
        </p:nvSpPr>
        <p:spPr>
          <a:xfrm>
            <a:off x="9943742" y="2937025"/>
            <a:ext cx="1497342" cy="166268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74375" y="2937025"/>
            <a:ext cx="1497342" cy="166268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05007" y="2937025"/>
            <a:ext cx="2080823" cy="166268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419120" y="2937025"/>
            <a:ext cx="1497342" cy="166268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3742" y="6643239"/>
            <a:ext cx="6972720" cy="19170"/>
          </a:xfrm>
          <a:prstGeom prst="rect">
            <a:avLst/>
          </a:prstGeom>
          <a:solidFill>
            <a:srgbClr val="4A463C"/>
          </a:solidFill>
          <a:ln/>
        </p:spPr>
      </p:sp>
      <p:sp>
        <p:nvSpPr>
          <p:cNvPr id="32" name="Shape 30"/>
          <p:cNvSpPr/>
          <p:nvPr/>
        </p:nvSpPr>
        <p:spPr>
          <a:xfrm>
            <a:off x="9943742" y="4885308"/>
            <a:ext cx="1835959" cy="166283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12991" y="4885308"/>
            <a:ext cx="3034222" cy="1662832"/>
          </a:xfrm>
          <a:prstGeom prst="rect">
            <a:avLst/>
          </a:prstGeom>
          <a:solidFill>
            <a:srgbClr val="E8845C">
              <a:alpha val="12000"/>
            </a:srgbClr>
          </a:solidFill>
          <a:ln w="19170">
            <a:solidFill>
              <a:srgbClr val="E8845C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1886648" y="4904477"/>
            <a:ext cx="3086909" cy="1662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E88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GAP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080504" y="4885308"/>
            <a:ext cx="1835959" cy="166283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43742" y="8591671"/>
            <a:ext cx="6972720" cy="19170"/>
          </a:xfrm>
          <a:prstGeom prst="rect">
            <a:avLst/>
          </a:prstGeom>
          <a:solidFill>
            <a:srgbClr val="4A463C"/>
          </a:solidFill>
          <a:ln/>
        </p:spPr>
      </p:sp>
      <p:sp>
        <p:nvSpPr>
          <p:cNvPr id="37" name="Shape 35"/>
          <p:cNvSpPr/>
          <p:nvPr/>
        </p:nvSpPr>
        <p:spPr>
          <a:xfrm>
            <a:off x="9943742" y="6833739"/>
            <a:ext cx="1153933" cy="166283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30966" y="6833739"/>
            <a:ext cx="1154083" cy="166283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518338" y="6833739"/>
            <a:ext cx="1154083" cy="166283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805711" y="6833739"/>
            <a:ext cx="1823379" cy="166283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762380" y="6833739"/>
            <a:ext cx="1154083" cy="1662832"/>
          </a:xfrm>
          <a:prstGeom prst="rect">
            <a:avLst/>
          </a:prstGeom>
          <a:solidFill>
            <a:srgbClr val="2B332F"/>
          </a:solidFill>
          <a:ln w="19170">
            <a:solidFill>
              <a:srgbClr val="57B9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43742" y="8801191"/>
            <a:ext cx="7669992" cy="380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03"/>
              </a:lnSpc>
              <a:buNone/>
            </a:pPr>
            <a:r>
              <a:rPr lang="en-US" sz="180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packs · 1 gap · 3 shelf rows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16199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Fitting inside a mid-range handset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90540" y="5116993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7" name="Text 5"/>
          <p:cNvSpPr/>
          <p:nvPr/>
        </p:nvSpPr>
        <p:spPr>
          <a:xfrm>
            <a:off x="990540" y="4476601"/>
            <a:ext cx="1163937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62649" y="4438261"/>
            <a:ext cx="3546536" cy="373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TFLite, NNAPI delegate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082" y="5116993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082" y="4524526"/>
            <a:ext cx="2393022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LATENCY BUDGET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200290" y="4840827"/>
            <a:ext cx="1097023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6200290" y="4438261"/>
            <a:ext cx="1173223" cy="440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 ms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540" y="6071889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540" y="5431498"/>
            <a:ext cx="2051185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QUANTISATION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7751" y="5393158"/>
            <a:ext cx="2814923" cy="373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INT8, post-training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601082" y="6071889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082" y="5479422"/>
            <a:ext cx="2393022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MEMORY CEILING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200290" y="5795724"/>
            <a:ext cx="1097023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9" name="Text 17"/>
          <p:cNvSpPr/>
          <p:nvPr/>
        </p:nvSpPr>
        <p:spPr>
          <a:xfrm>
            <a:off x="16200290" y="5393158"/>
            <a:ext cx="1173223" cy="440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 MB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90540" y="7026786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540" y="6434318"/>
            <a:ext cx="1709348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SIZE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89749" y="6750620"/>
            <a:ext cx="1097023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749" y="6348054"/>
            <a:ext cx="1173223" cy="440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 MB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601082" y="7026786"/>
            <a:ext cx="7696231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082" y="6434318"/>
            <a:ext cx="1880349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TIER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200290" y="6750620"/>
            <a:ext cx="1097023" cy="9585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Text 25"/>
          <p:cNvSpPr/>
          <p:nvPr/>
        </p:nvSpPr>
        <p:spPr>
          <a:xfrm>
            <a:off x="16200290" y="6348054"/>
            <a:ext cx="1173223" cy="440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90540" y="8844803"/>
            <a:ext cx="12753823" cy="756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801"/>
              </a:lnSpc>
              <a:buNone/>
            </a:pPr>
            <a:r>
              <a:rPr lang="en-US" sz="1950" dirty="0">
                <a:solidFill>
                  <a:srgbClr val="6B655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These are targets the design is held to, not measured results. The model would ship inside the APK; a new SKU set arrives as a signed weights bundle on the next sync, so the field app never waits on a store release.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16199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03"/>
            <a:ext cx="13383361" cy="675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Stockouts and facings, computed on the phone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5182943" y="2298880"/>
            <a:ext cx="2325808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263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ILLUSTRATIVE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540" y="4153560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8" name="Text 6"/>
          <p:cNvSpPr/>
          <p:nvPr/>
        </p:nvSpPr>
        <p:spPr>
          <a:xfrm>
            <a:off x="990540" y="3675513"/>
            <a:ext cx="85086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225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SKU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877975" y="3675513"/>
            <a:ext cx="251443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225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PLANOGRAM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544677" y="3675513"/>
            <a:ext cx="251443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225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DETECTED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154228" y="3675513"/>
            <a:ext cx="314308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225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540" y="5032076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540" y="4458629"/>
            <a:ext cx="85086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Biscuit, glucose, 100 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877975" y="4410705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544677" y="4410705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154228" y="4477799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STOCK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540" y="5910593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540" y="5337146"/>
            <a:ext cx="85086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Instant noodles, masala, 70 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877975" y="5289221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544677" y="5289221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154228" y="5356315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C853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STOCKOUT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0540" y="6789110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540" y="6215662"/>
            <a:ext cx="85086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Iodised salt, 1 kg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8877975" y="6167738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544677" y="6167738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154228" y="6234832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C853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BELOW PLAN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90540" y="7667626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28" name="Text 26"/>
          <p:cNvSpPr/>
          <p:nvPr/>
        </p:nvSpPr>
        <p:spPr>
          <a:xfrm>
            <a:off x="990540" y="7094179"/>
            <a:ext cx="85086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Toothpaste, 100 g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8877975" y="7046255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1544677" y="7046255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4154228" y="7113349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STOCK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0540" y="8546143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33" name="Text 31"/>
          <p:cNvSpPr/>
          <p:nvPr/>
        </p:nvSpPr>
        <p:spPr>
          <a:xfrm>
            <a:off x="990540" y="7972696"/>
            <a:ext cx="85086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Detergent bar, 250 g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8877975" y="7924772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1544677" y="7924772"/>
            <a:ext cx="2514436" cy="41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4154228" y="7991866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C853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BELOW PLAN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16199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03"/>
            <a:ext cx="11567426" cy="675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Order capture at the counter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90540" y="3011009"/>
            <a:ext cx="1051584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7" name="Shape 5"/>
          <p:cNvSpPr/>
          <p:nvPr/>
        </p:nvSpPr>
        <p:spPr>
          <a:xfrm>
            <a:off x="990540" y="4353795"/>
            <a:ext cx="1051584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8" name="Text 6"/>
          <p:cNvSpPr/>
          <p:nvPr/>
        </p:nvSpPr>
        <p:spPr>
          <a:xfrm>
            <a:off x="990540" y="3287174"/>
            <a:ext cx="350418" cy="8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9529" y="3287174"/>
            <a:ext cx="10234958" cy="8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Suggested quantities come from the gap between planogram and detection, adjusted for the store's last three orders.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0540" y="5696580"/>
            <a:ext cx="1051584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1" name="Text 9"/>
          <p:cNvSpPr/>
          <p:nvPr/>
        </p:nvSpPr>
        <p:spPr>
          <a:xfrm>
            <a:off x="990540" y="4629960"/>
            <a:ext cx="350418" cy="8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69529" y="4629960"/>
            <a:ext cx="10234958" cy="8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line is editable. The owner overrules the model as often as they like, and each override is logged as training signal.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90540" y="7039366"/>
            <a:ext cx="1051584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540" y="5972745"/>
            <a:ext cx="350418" cy="8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69529" y="5972745"/>
            <a:ext cx="10234958" cy="8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Confirmed orders go to a local queue with store id, timestamp, GPS fix and the source photo.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16199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03"/>
            <a:ext cx="7966300" cy="1313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Sync, and the distributor sheet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90540" y="3648705"/>
            <a:ext cx="7966300" cy="128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88"/>
              </a:lnSpc>
              <a:buNone/>
            </a:pPr>
            <a:r>
              <a:rPr lang="en-US" sz="22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When the handset finds any connection, the queue drains in delta batches. The distributor receives three artefacts, in the formats their back office already runs on.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540" y="5234258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8" name="Shape 6"/>
          <p:cNvSpPr/>
          <p:nvPr/>
        </p:nvSpPr>
        <p:spPr>
          <a:xfrm>
            <a:off x="990540" y="5960015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9" name="Text 7"/>
          <p:cNvSpPr/>
          <p:nvPr/>
        </p:nvSpPr>
        <p:spPr>
          <a:xfrm>
            <a:off x="990540" y="5453393"/>
            <a:ext cx="7966300" cy="33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Consolidated order sheet, CSV and XLSX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90540" y="6685772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1" name="Text 9"/>
          <p:cNvSpPr/>
          <p:nvPr/>
        </p:nvSpPr>
        <p:spPr>
          <a:xfrm>
            <a:off x="990540" y="6179150"/>
            <a:ext cx="7966300" cy="33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Beat stockout report, by SKU and by outlet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540" y="7411529"/>
            <a:ext cx="7734272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540" y="6904907"/>
            <a:ext cx="7966300" cy="33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Photo evidence bundle, one image per visit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562892" y="2030503"/>
            <a:ext cx="7734421" cy="7532539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15" name="Text 13"/>
          <p:cNvSpPr/>
          <p:nvPr/>
        </p:nvSpPr>
        <p:spPr>
          <a:xfrm>
            <a:off x="9943742" y="2449543"/>
            <a:ext cx="7669992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ORDERSHEET_BEAT12.CSV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43742" y="3424658"/>
            <a:ext cx="6972720" cy="9585"/>
          </a:xfrm>
          <a:prstGeom prst="rect">
            <a:avLst/>
          </a:prstGeom>
          <a:solidFill>
            <a:srgbClr val="4A463C"/>
          </a:solidFill>
          <a:ln/>
        </p:spPr>
      </p:sp>
      <p:sp>
        <p:nvSpPr>
          <p:cNvPr id="17" name="Text 15"/>
          <p:cNvSpPr/>
          <p:nvPr/>
        </p:nvSpPr>
        <p:spPr>
          <a:xfrm>
            <a:off x="9943742" y="2994235"/>
            <a:ext cx="2547878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88535" y="2994235"/>
            <a:ext cx="1819889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295320" y="2994235"/>
            <a:ext cx="1068987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460485" y="2994235"/>
            <a:ext cx="1455977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8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43742" y="3681803"/>
            <a:ext cx="2547878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KIR-0412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488535" y="3681803"/>
            <a:ext cx="1819889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NDL-70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4295320" y="3681803"/>
            <a:ext cx="10689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5460485" y="3681803"/>
            <a:ext cx="145597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336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943742" y="4388390"/>
            <a:ext cx="2547878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KIR-0412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488535" y="4388390"/>
            <a:ext cx="1819889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SLT-1K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4295320" y="4388390"/>
            <a:ext cx="10689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5460485" y="4388390"/>
            <a:ext cx="145597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336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9943742" y="5094977"/>
            <a:ext cx="2547878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KIR-0418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2488535" y="5094977"/>
            <a:ext cx="1819889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DTB-250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4295320" y="5094977"/>
            <a:ext cx="10689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5460485" y="5094977"/>
            <a:ext cx="145597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396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9943742" y="5801564"/>
            <a:ext cx="2547878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KIR-0421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2488535" y="5801564"/>
            <a:ext cx="1819889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BIS-100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4295320" y="5801564"/>
            <a:ext cx="106898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5460485" y="5801564"/>
            <a:ext cx="1455977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2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9943742" y="8801191"/>
            <a:ext cx="7669992" cy="380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03"/>
              </a:lnSpc>
              <a:buNone/>
            </a:pPr>
            <a:r>
              <a:rPr lang="en-US" sz="1800" dirty="0">
                <a:solidFill>
                  <a:srgbClr val="57B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beat · one batch · no per-visit upload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116199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Architecture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90540" y="4146071"/>
            <a:ext cx="16306773" cy="1325713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7" name="Text 5"/>
          <p:cNvSpPr/>
          <p:nvPr/>
        </p:nvSpPr>
        <p:spPr>
          <a:xfrm>
            <a:off x="1409580" y="4660362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DEVICE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00241" y="4507902"/>
            <a:ext cx="2704591" cy="602052"/>
          </a:xfrm>
          <a:prstGeom prst="rect">
            <a:avLst/>
          </a:prstGeom>
          <a:ln w="9585">
            <a:solidFill>
              <a:srgbClr val="EEF3F1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38426" y="4650836"/>
            <a:ext cx="2309359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CameraX capture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76163" y="4507902"/>
            <a:ext cx="2704591" cy="602052"/>
          </a:xfrm>
          <a:prstGeom prst="rect">
            <a:avLst/>
          </a:prstGeom>
          <a:ln w="9585">
            <a:solidFill>
              <a:srgbClr val="EEF3F1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14348" y="4650836"/>
            <a:ext cx="2309359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TFLite detector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552084" y="4507902"/>
            <a:ext cx="2556025" cy="602052"/>
          </a:xfrm>
          <a:prstGeom prst="rect">
            <a:avLst/>
          </a:prstGeom>
          <a:ln w="9585">
            <a:solidFill>
              <a:srgbClr val="EEF3F1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0269" y="4650836"/>
            <a:ext cx="2156336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Planogram diff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279439" y="4507902"/>
            <a:ext cx="2258893" cy="602052"/>
          </a:xfrm>
          <a:prstGeom prst="rect">
            <a:avLst/>
          </a:prstGeom>
          <a:ln w="9585">
            <a:solidFill>
              <a:srgbClr val="EEF3F1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17624" y="4650836"/>
            <a:ext cx="1858723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EF3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SQLite queue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540" y="5738364"/>
            <a:ext cx="16306773" cy="1344882"/>
          </a:xfrm>
          <a:prstGeom prst="rect">
            <a:avLst/>
          </a:prstGeom>
          <a:ln w="9585">
            <a:solidFill>
              <a:srgbClr val="212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9165" y="6262239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9826" y="6109779"/>
            <a:ext cx="3892970" cy="602052"/>
          </a:xfrm>
          <a:prstGeom prst="rect">
            <a:avLst/>
          </a:prstGeom>
          <a:ln w="9585">
            <a:solidFill>
              <a:srgbClr val="D5C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8011" y="6252714"/>
            <a:ext cx="3533389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Delta upload, resumable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874126" y="6109779"/>
            <a:ext cx="3595838" cy="602052"/>
          </a:xfrm>
          <a:prstGeom prst="rect">
            <a:avLst/>
          </a:prstGeom>
          <a:ln w="9585">
            <a:solidFill>
              <a:srgbClr val="D5C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12311" y="6252714"/>
            <a:ext cx="3227343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Idempotent visit keys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641295" y="6109779"/>
            <a:ext cx="3298706" cy="602052"/>
          </a:xfrm>
          <a:prstGeom prst="rect">
            <a:avLst/>
          </a:prstGeom>
          <a:ln w="9585">
            <a:solidFill>
              <a:srgbClr val="D5C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79480" y="6252714"/>
            <a:ext cx="2921297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Weights bundle down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90540" y="7349827"/>
            <a:ext cx="16306773" cy="1344882"/>
          </a:xfrm>
          <a:prstGeom prst="rect">
            <a:avLst/>
          </a:prstGeom>
          <a:ln w="9585">
            <a:solidFill>
              <a:srgbClr val="2120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9165" y="7873702"/>
            <a:ext cx="3143086" cy="33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DISTRIBUTOR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09826" y="7721242"/>
            <a:ext cx="2704591" cy="602052"/>
          </a:xfrm>
          <a:prstGeom prst="rect">
            <a:avLst/>
          </a:prstGeom>
          <a:ln w="9585">
            <a:solidFill>
              <a:srgbClr val="D5C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8011" y="7864177"/>
            <a:ext cx="2309359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Sheet generator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685748" y="7721242"/>
            <a:ext cx="3150140" cy="602052"/>
          </a:xfrm>
          <a:prstGeom prst="rect">
            <a:avLst/>
          </a:prstGeom>
          <a:ln w="9585">
            <a:solidFill>
              <a:srgbClr val="D5C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23933" y="7864177"/>
            <a:ext cx="2768274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Beat stockout view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007218" y="7721242"/>
            <a:ext cx="3447272" cy="602052"/>
          </a:xfrm>
          <a:prstGeom prst="rect">
            <a:avLst/>
          </a:prstGeom>
          <a:ln w="9585">
            <a:solidFill>
              <a:srgbClr val="D5CF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5403" y="7864177"/>
            <a:ext cx="3074320" cy="354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0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Photo evidence store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6A6558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80016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A19A8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F2EFE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this is buildable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6416496" y="3430049"/>
            <a:ext cx="9585" cy="6132993"/>
          </a:xfrm>
          <a:prstGeom prst="rect">
            <a:avLst/>
          </a:prstGeom>
          <a:solidFill>
            <a:srgbClr val="4A463C"/>
          </a:solidFill>
          <a:ln/>
        </p:spPr>
      </p:sp>
      <p:sp>
        <p:nvSpPr>
          <p:cNvPr id="7" name="Text 5"/>
          <p:cNvSpPr/>
          <p:nvPr/>
        </p:nvSpPr>
        <p:spPr>
          <a:xfrm>
            <a:off x="990540" y="3430049"/>
            <a:ext cx="5381911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57B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MODEL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540" y="3984326"/>
            <a:ext cx="5039426" cy="1638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D8D3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Detecting forty to sixty rigid, high-contrast packs is a settled problem. The hard part is collecting the right images, not inventing an architecture.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852037" y="3430049"/>
            <a:ext cx="9585" cy="6132993"/>
          </a:xfrm>
          <a:prstGeom prst="rect">
            <a:avLst/>
          </a:prstGeom>
          <a:solidFill>
            <a:srgbClr val="4A463C"/>
          </a:solidFill>
          <a:ln/>
        </p:spPr>
      </p:sp>
      <p:sp>
        <p:nvSpPr>
          <p:cNvPr id="10" name="Text 8"/>
          <p:cNvSpPr/>
          <p:nvPr/>
        </p:nvSpPr>
        <p:spPr>
          <a:xfrm>
            <a:off x="6959391" y="3430049"/>
            <a:ext cx="4795269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57B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OFFLINE PATH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959391" y="3984326"/>
            <a:ext cx="4490116" cy="2038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D8D3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Camera, local database, background sync. Every piece is standard Android with a well-understood failure mode. There is no new infrastructure to invent.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394933" y="3430049"/>
            <a:ext cx="5392454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57B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OUTPUT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394933" y="3984326"/>
            <a:ext cx="5049298" cy="1638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430"/>
              </a:lnSpc>
              <a:buNone/>
            </a:pPr>
            <a:r>
              <a:rPr lang="en-US" sz="2250" dirty="0">
                <a:solidFill>
                  <a:srgbClr val="D8D3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Distributors already run on spreadsheets. We write files into a workflow that exists, rather than asking anyone to adopt a new system.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80016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could go wrong, and the answer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90540" y="4752167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7" name="Text 5"/>
          <p:cNvSpPr/>
          <p:nvPr/>
        </p:nvSpPr>
        <p:spPr>
          <a:xfrm>
            <a:off x="990540" y="3693484"/>
            <a:ext cx="5448136" cy="40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113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Dataset collection is the long pole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552931" y="3693484"/>
            <a:ext cx="11066713" cy="81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149"/>
              </a:lnSpc>
              <a:buNone/>
            </a:pPr>
            <a:r>
              <a:rPr lang="en-US" sz="2175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 the pilot to one distributor's top SKUs and augment from flat pack fronts before shooting a single store.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540" y="6106035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0" name="Text 8"/>
          <p:cNvSpPr/>
          <p:nvPr/>
        </p:nvSpPr>
        <p:spPr>
          <a:xfrm>
            <a:off x="990540" y="5047352"/>
            <a:ext cx="5448136" cy="40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113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 racks are cluttered and occluded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552931" y="5047352"/>
            <a:ext cx="11066713" cy="81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149"/>
              </a:lnSpc>
              <a:buNone/>
            </a:pPr>
            <a:r>
              <a:rPr lang="en-US" sz="2175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Facing counts degrade to a confidence band rather than a hard number, and the salesman confirms every line regardless.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90540" y="7459903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540" y="6401220"/>
            <a:ext cx="5448136" cy="40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1113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Most stores have no planogram on file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552931" y="6401220"/>
            <a:ext cx="11066713" cy="81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149"/>
              </a:lnSpc>
              <a:buNone/>
            </a:pPr>
            <a:r>
              <a:rPr lang="en-US" sz="2175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Fall back to the outlet's own trailing order history as the baseline, and let the first few visits establish it.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0540" y="8813771"/>
            <a:ext cx="16306773" cy="9585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540" y="7755089"/>
            <a:ext cx="5101437" cy="78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13"/>
              </a:lnSpc>
              <a:buNone/>
            </a:pPr>
            <a:r>
              <a:rPr lang="en-US" sz="2250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Salesmen may not trust a suggested order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552931" y="7755089"/>
            <a:ext cx="11066713" cy="81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149"/>
              </a:lnSpc>
              <a:buNone/>
            </a:pPr>
            <a:r>
              <a:rPr lang="en-US" sz="2175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app never submits on its own. Suggestions are drafts, overrides are one tap, and the override rate is the metric we watch.</a:t>
            </a:r>
            <a:endParaRPr lang="en-US" sz="21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40" y="1335148"/>
            <a:ext cx="16306773" cy="9585"/>
          </a:xfrm>
          <a:prstGeom prst="rect">
            <a:avLst/>
          </a:prstGeom>
          <a:solidFill>
            <a:srgbClr val="21201C"/>
          </a:solidFill>
          <a:ln/>
        </p:spPr>
      </p:sp>
      <p:sp>
        <p:nvSpPr>
          <p:cNvPr id="3" name="Text 1"/>
          <p:cNvSpPr/>
          <p:nvPr/>
        </p:nvSpPr>
        <p:spPr>
          <a:xfrm>
            <a:off x="990540" y="838080"/>
            <a:ext cx="800160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030608" y="838080"/>
            <a:ext cx="1393376" cy="344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B65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17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40" y="2030533"/>
            <a:ext cx="16795976" cy="675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9316"/>
              </a:lnSpc>
              <a:buNone/>
            </a:pPr>
            <a:r>
              <a:rPr lang="en-US" sz="4650" b="1" kern="0" spc="-93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Twelve weeks to a measured pilot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5057536" y="3468239"/>
            <a:ext cx="9585" cy="609480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7" name="Text 5"/>
          <p:cNvSpPr/>
          <p:nvPr/>
        </p:nvSpPr>
        <p:spPr>
          <a:xfrm>
            <a:off x="990540" y="3468239"/>
            <a:ext cx="4012751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1–2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540" y="3994061"/>
            <a:ext cx="4012751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Dataset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90540" y="4575895"/>
            <a:ext cx="3757394" cy="1078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Shoot and label real racks across a single beat, in the light they actually have.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34267" y="3468239"/>
            <a:ext cx="9585" cy="609480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161" y="3468239"/>
            <a:ext cx="3551972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3–5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86161" y="3994061"/>
            <a:ext cx="3551972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486161" y="4575895"/>
            <a:ext cx="3325937" cy="1424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Train, quantise, and benchmark on the target handset tier. This is milestone one.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210997" y="3468239"/>
            <a:ext cx="9585" cy="6094803"/>
          </a:xfrm>
          <a:prstGeom prst="rect">
            <a:avLst/>
          </a:prstGeom>
          <a:solidFill>
            <a:srgbClr val="D5CFBE"/>
          </a:solidFill>
          <a:ln/>
        </p:spPr>
      </p:sp>
      <p:sp>
        <p:nvSpPr>
          <p:cNvPr id="15" name="Text 13"/>
          <p:cNvSpPr/>
          <p:nvPr/>
        </p:nvSpPr>
        <p:spPr>
          <a:xfrm>
            <a:off x="9562892" y="3468239"/>
            <a:ext cx="3551972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6–8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62892" y="3994061"/>
            <a:ext cx="3551972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562892" y="4575895"/>
            <a:ext cx="3325937" cy="1078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Capture, diff, order draft, offline queue and sheet export end to end.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639622" y="3468239"/>
            <a:ext cx="4023459" cy="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1F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 9–12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639622" y="3994061"/>
            <a:ext cx="4023459" cy="410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15"/>
              </a:lnSpc>
              <a:buNone/>
            </a:pPr>
            <a:r>
              <a:rPr lang="en-US" sz="2550" b="1" dirty="0">
                <a:solidFill>
                  <a:srgbClr val="2120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Pilot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639622" y="4575895"/>
            <a:ext cx="3767421" cy="1078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950" dirty="0">
                <a:solidFill>
                  <a:srgbClr val="4341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live beat for two weeks, measured against the paper process it replaces.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1605</Words>
  <Application>Microsoft Office PowerPoint</Application>
  <PresentationFormat>Custom</PresentationFormat>
  <Paragraphs>245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Archivo</vt:lpstr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Archit Khandelwal</cp:lastModifiedBy>
  <cp:revision>1</cp:revision>
  <dcterms:created xsi:type="dcterms:W3CDTF">2026-08-31T17:06:47Z</dcterms:created>
  <dcterms:modified xsi:type="dcterms:W3CDTF">2026-08-31T17:15:45Z</dcterms:modified>
</cp:coreProperties>
</file>